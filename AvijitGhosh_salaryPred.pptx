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Sora SemiBold"/>
      <p:regular r:id="rId23"/>
      <p:bold r:id="rId24"/>
    </p:embeddedFont>
    <p:embeddedFont>
      <p:font typeface="IBM Plex Sans Medium"/>
      <p:regular r:id="rId25"/>
      <p:bold r:id="rId26"/>
      <p:italic r:id="rId27"/>
      <p:boldItalic r:id="rId28"/>
    </p:embeddedFont>
    <p:embeddedFont>
      <p:font typeface="Sora Light"/>
      <p:regular r:id="rId29"/>
      <p:bold r:id="rId30"/>
    </p:embeddedFont>
    <p:embeddedFont>
      <p:font typeface="Sora ExtraLight"/>
      <p:regular r:id="rId31"/>
      <p:bold r:id="rId32"/>
    </p:embeddedFont>
    <p:embeddedFont>
      <p:font typeface="Sora"/>
      <p:regular r:id="rId33"/>
      <p:bold r:id="rId34"/>
    </p:embeddedFont>
    <p:embeddedFont>
      <p:font typeface="Sora Medium"/>
      <p:regular r:id="rId35"/>
      <p:bold r:id="rId36"/>
    </p:embeddedFont>
    <p:embeddedFont>
      <p:font typeface="IBM Plex Sa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5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ExtraLight-regular.fntdata"/><Relationship Id="rId30" Type="http://schemas.openxmlformats.org/officeDocument/2006/relationships/font" Target="fonts/SoraLight-bold.fntdata"/><Relationship Id="rId33" Type="http://schemas.openxmlformats.org/officeDocument/2006/relationships/font" Target="fonts/Sora-regular.fntdata"/><Relationship Id="rId32" Type="http://schemas.openxmlformats.org/officeDocument/2006/relationships/font" Target="fonts/SoraExtraLight-bold.fntdata"/><Relationship Id="rId35" Type="http://schemas.openxmlformats.org/officeDocument/2006/relationships/font" Target="fonts/SoraMedium-regular.fntdata"/><Relationship Id="rId34" Type="http://schemas.openxmlformats.org/officeDocument/2006/relationships/font" Target="fonts/Sora-bold.fntdata"/><Relationship Id="rId37" Type="http://schemas.openxmlformats.org/officeDocument/2006/relationships/font" Target="fonts/IBMPlexSansSemiBold-regular.fntdata"/><Relationship Id="rId36" Type="http://schemas.openxmlformats.org/officeDocument/2006/relationships/font" Target="fonts/SoraMedium-bold.fntdata"/><Relationship Id="rId39" Type="http://schemas.openxmlformats.org/officeDocument/2006/relationships/font" Target="fonts/IBMPlexSansSemiBold-italic.fntdata"/><Relationship Id="rId38" Type="http://schemas.openxmlformats.org/officeDocument/2006/relationships/font" Target="fonts/IBMPlexSansSemiBold-bold.fntdata"/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26" Type="http://schemas.openxmlformats.org/officeDocument/2006/relationships/font" Target="fonts/IBMPlexSansMedium-bold.fntdata"/><Relationship Id="rId25" Type="http://schemas.openxmlformats.org/officeDocument/2006/relationships/font" Target="fonts/IBMPlexSansMedium-regular.fntdata"/><Relationship Id="rId28" Type="http://schemas.openxmlformats.org/officeDocument/2006/relationships/font" Target="fonts/IBMPlexSansMedium-boldItalic.fntdata"/><Relationship Id="rId27" Type="http://schemas.openxmlformats.org/officeDocument/2006/relationships/font" Target="fonts/IBMPlexSansMedium-italic.fntdata"/><Relationship Id="rId29" Type="http://schemas.openxmlformats.org/officeDocument/2006/relationships/font" Target="fonts/Sora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99a0da37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99a0da37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99a0da370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99a0da370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99a0da370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99a0da370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99a0da370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99a0da370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99a0da370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99a0da370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99a0da370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99a0da370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99a186d3e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99a186d3e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99a186d3e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99a186d3e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99a186d3e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99a186d3e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99a186d3e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99a186d3e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99a0da370c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99a0da370c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99a0da370c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99a0da370c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" name="Google Shape;59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1" name="Google Shape;61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2" name="Google Shape;62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3" name="Google Shape;63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4" name="Google Shape;64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5" name="Google Shape;65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6" name="Google Shape;66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8" name="Google Shape;68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9" name="Google Shape;69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70" name="Google Shape;70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3" name="Google Shape;73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4" name="Google Shape;74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" name="Google Shape;7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8" name="Google Shape;78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9" name="Google Shape;79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80" name="Google Shape;80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" name="Google Shape;82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3" name="Google Shape;83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8" name="Google Shape;88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9" name="Google Shape;8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4" name="Google Shape;94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5" name="Google Shape;9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" name="Google Shape;100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1" name="Google Shape;101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" name="Google Shape;104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6" name="Google Shape;106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7" name="Google Shape;10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0" name="Google Shape;11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" name="Google Shape;11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2" name="Google Shape;112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3" name="Google Shape;113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" name="Google Shape;116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8" name="Google Shape;118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0" name="Google Shape;120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4" name="Google Shape;124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5" name="Google Shape;125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6" name="Google Shape;126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1" name="Google Shape;131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2" name="Google Shape;132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7" name="Google Shape;137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8" name="Google Shape;138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" name="Google Shape;140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" name="Google Shape;141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3" name="Google Shape;143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4" name="Google Shape;144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" name="Google Shape;146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" name="Google Shape;147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" name="Google Shape;148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9" name="Google Shape;149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0" name="Google Shape;150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1" name="Google Shape;151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" name="Google Shape;152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60" name="Google Shape;160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61" name="Google Shape;161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2" name="Google Shape;162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3" name="Google Shape;163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4" name="Google Shape;164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7" name="Google Shape;167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8" name="Google Shape;16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9" name="Google Shape;16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0" name="Google Shape;17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3" name="Google Shape;173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4" name="Google Shape;17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5" name="Google Shape;17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6" name="Google Shape;17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9" name="Google Shape;179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0" name="Google Shape;18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1" name="Google Shape;18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2" name="Google Shape;18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3" name="Google Shape;18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4" name="Google Shape;18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5" name="Google Shape;185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6" name="Google Shape;186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7" name="Google Shape;187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8" name="Google Shape;188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2" name="Google Shape;192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93" name="Google Shape;193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7" name="Google Shape;197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8" name="Google Shape;198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203" name="Google Shape;203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7" name="Google Shape;207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8" name="Google Shape;208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9" name="Google Shape;209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10" name="Google Shape;210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1" name="Google Shape;211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13" name="Google Shape;213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4" name="Google Shape;214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15" name="Google Shape;21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9" name="Google Shape;219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0" name="Google Shape;220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1" name="Google Shape;221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22" name="Google Shape;222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6" name="Google Shape;226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7" name="Google Shape;227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8" name="Google Shape;228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9" name="Google Shape;229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30" name="Google Shape;230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31" name="Google Shape;231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34" name="Google Shape;23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7" name="Google Shape;237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9" name="Google Shape;239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41" name="Google Shape;241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2" name="Google Shape;242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43" name="Google Shape;24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46" name="Google Shape;246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7" name="Google Shape;247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8" name="Google Shape;248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3" name="Google Shape;253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54" name="Google Shape;254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55" name="Google Shape;255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6" name="Google Shape;256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7" name="Google Shape;257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60" name="Google Shape;260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61" name="Google Shape;261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4" name="Google Shape;264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5" name="Google Shape;265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6" name="Google Shape;266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67" name="Google Shape;26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0" name="Google Shape;270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1" name="Google Shape;271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4" name="Google Shape;27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77" name="Google Shape;277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78" name="Google Shape;278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9" name="Google Shape;279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83" name="Google Shape;283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84" name="Google Shape;284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5" name="Google Shape;285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6" name="Google Shape;286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7" name="Google Shape;287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88" name="Google Shape;288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9" name="Google Shape;289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0" name="Google Shape;290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1" name="Google Shape;291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2" name="Google Shape;292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93" name="Google Shape;293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4" name="Google Shape;294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5" name="Google Shape;295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96" name="Google Shape;29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301" name="Google Shape;30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04" name="Google Shape;30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0" name="Google Shape;31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11" name="Google Shape;31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12" name="Google Shape;31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13" name="Google Shape;31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4" name="Google Shape;31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18" name="Google Shape;318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28" name="Google Shape;328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30" name="Google Shape;330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1" name="Google Shape;331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5" name="Google Shape;335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36" name="Google Shape;336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37" name="Google Shape;337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38" name="Google Shape;338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9" name="Google Shape;339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0" name="Google Shape;340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1" name="Google Shape;341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2" name="Google Shape;342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43" name="Google Shape;343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4" name="Google Shape;344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45" name="Google Shape;34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8" name="Google Shape;348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49" name="Google Shape;349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50" name="Google Shape;350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51" name="Google Shape;351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4" name="Google Shape;354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55" name="Google Shape;355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56" name="Google Shape;356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7" name="Google Shape;357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8" name="Google Shape;35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9" name="Google Shape;359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60" name="Google Shape;360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61" name="Google Shape;361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2" name="Google Shape;362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3" name="Google Shape;363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65" name="Google Shape;365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66" name="Google Shape;366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67" name="Google Shape;367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8" name="Google Shape;368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9" name="Google Shape;369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0" name="Google Shape;370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71" name="Google Shape;37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5" name="Google Shape;375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6" name="Google Shape;376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77" name="Google Shape;37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0" name="Google Shape;380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1" name="Google Shape;381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7" name="Google Shape;387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8" name="Google Shape;388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9" name="Google Shape;389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0" name="Google Shape;390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1" name="Google Shape;391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2" name="Google Shape;392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3" name="Google Shape;393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4" name="Google Shape;394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5" name="Google Shape;395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96" name="Google Shape;396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97" name="Google Shape;397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98" name="Google Shape;398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99" name="Google Shape;399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400" name="Google Shape;40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3" name="Google Shape;403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7" name="Google Shape;407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8" name="Google Shape;408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9" name="Google Shape;409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10" name="Google Shape;410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1" name="Google Shape;411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2" name="Google Shape;412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1" name="Google Shape;421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2" name="Google Shape;422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423" name="Google Shape;42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28" name="Google Shape;428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29" name="Google Shape;429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0" name="Google Shape;430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1" name="Google Shape;431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2" name="Google Shape;432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3" name="Google Shape;433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4" name="Google Shape;434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35" name="Google Shape;435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36" name="Google Shape;436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1" name="Google Shape;441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45" name="Google Shape;445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6" name="Google Shape;446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7" name="Google Shape;447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54" name="Google Shape;454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55" name="Google Shape;455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56" name="Google Shape;456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8" name="Google Shape;458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459" name="Google Shape;45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2" name="Google Shape;462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3" name="Google Shape;463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4" name="Google Shape;464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5" name="Google Shape;465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6" name="Google Shape;466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8" name="Google Shape;468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9" name="Google Shape;469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0" name="Google Shape;470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1" name="Google Shape;471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2" name="Google Shape;472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3" name="Google Shape;473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4" name="Google Shape;474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5" name="Google Shape;475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6" name="Google Shape;476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7" name="Google Shape;477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78" name="Google Shape;478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479" name="Google Shape;47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82" name="Google Shape;482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83" name="Google Shape;483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84" name="Google Shape;484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85" name="Google Shape;485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6" name="Google Shape;486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7" name="Google Shape;487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8" name="Google Shape;488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9" name="Google Shape;489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90" name="Google Shape;490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91" name="Google Shape;491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92" name="Google Shape;492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93" name="Google Shape;493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4" name="Google Shape;494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95" name="Google Shape;495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496" name="Google Shape;49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99" name="Google Shape;49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0" name="Google Shape;50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1" name="Google Shape;50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2" name="Google Shape;50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3" name="Google Shape;50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4" name="Google Shape;50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05" name="Google Shape;50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06" name="Google Shape;50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1" name="Google Shape;51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15" name="Google Shape;51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6" name="Google Shape;51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7" name="Google Shape;51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8" name="Google Shape;51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19" name="Google Shape;51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0" name="Google Shape;52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21" name="Google Shape;52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522" name="Google Shape;52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25" name="Google Shape;525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26" name="Google Shape;526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7" name="Google Shape;527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8" name="Google Shape;528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0" name="Google Shape;530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31" name="Google Shape;531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4" name="Google Shape;534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36" name="Google Shape;536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37" name="Google Shape;537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8" name="Google Shape;538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9" name="Google Shape;539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40" name="Google Shape;540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41" name="Google Shape;541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2" name="Google Shape;542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3" name="Google Shape;543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44" name="Google Shape;544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45" name="Google Shape;545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49" name="Google Shape;549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50" name="Google Shape;550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51" name="Google Shape;551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52" name="Google Shape;552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53" name="Google Shape;553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54" name="Google Shape;554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55" name="Google Shape;555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6" name="Google Shape;556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57" name="Google Shape;557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58" name="Google Shape;558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9" name="Google Shape;559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560" name="Google Shape;56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63" name="Google Shape;563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64" name="Google Shape;564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65" name="Google Shape;565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6" name="Google Shape;566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7" name="Google Shape;567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8" name="Google Shape;568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9" name="Google Shape;569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0" name="Google Shape;570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1" name="Google Shape;57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4" name="Google Shape;57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5" name="Google Shape;57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6" name="Google Shape;576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0" name="Google Shape;58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1" name="Google Shape;58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2" name="Google Shape;582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3" name="Google Shape;583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6" name="Google Shape;586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87" name="Google Shape;587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88" name="Google Shape;588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89" name="Google Shape;589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90" name="Google Shape;590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1" name="Google Shape;59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2" name="Google Shape;59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3" name="Google Shape;59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4" name="Google Shape;59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5" name="Google Shape;59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6" name="Google Shape;596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7" name="Google Shape;59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8" name="Google Shape;59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9" name="Google Shape;59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0" name="Google Shape;60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1" name="Google Shape;60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02" name="Google Shape;602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3" name="Google Shape;603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4" name="Google Shape;604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5" name="Google Shape;605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6" name="Google Shape;606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7" name="Google Shape;607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08" name="Google Shape;608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9" name="Google Shape;60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0" name="Google Shape;61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1" name="Google Shape;61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2" name="Google Shape;61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3" name="Google Shape;61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14" name="Google Shape;614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15" name="Google Shape;615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6" name="Google Shape;616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7" name="Google Shape;617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8" name="Google Shape;618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19" name="Google Shape;619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21" name="Google Shape;621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2" name="Google Shape;622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4" name="Google Shape;624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6" name="Google Shape;626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8" name="Google Shape;628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9" name="Google Shape;629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0" name="Google Shape;630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1" name="Google Shape;631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32" name="Google Shape;63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5" name="Google Shape;635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36" name="Google Shape;636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7" name="Google Shape;637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8" name="Google Shape;638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9" name="Google Shape;639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0" name="Google Shape;640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1" name="Google Shape;641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42" name="Google Shape;642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3" name="Google Shape;643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4" name="Google Shape;644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5" name="Google Shape;645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6" name="Google Shape;646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7" name="Google Shape;647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8" name="Google Shape;648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9" name="Google Shape;649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50" name="Google Shape;650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51" name="Google Shape;651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52" name="Google Shape;65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5" name="Google Shape;655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6" name="Google Shape;656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58" name="Google Shape;658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59" name="Google Shape;659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0" name="Google Shape;660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1" name="Google Shape;661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62" name="Google Shape;662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buNone/>
              <a:defRPr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4" name="Google Shape;664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65" name="Google Shape;665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66" name="Google Shape;666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7" name="Google Shape;667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69" name="Google Shape;669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70" name="Google Shape;670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1" name="Google Shape;671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2" name="Google Shape;672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73" name="Google Shape;673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74" name="Google Shape;674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5" name="Google Shape;675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6" name="Google Shape;676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77" name="Google Shape;677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78" name="Google Shape;678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79" name="Google Shape;679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80" name="Google Shape;680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81" name="Google Shape;681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2" name="Google Shape;682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3" name="Google Shape;683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4" name="Google Shape;684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5" name="Google Shape;685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86" name="Google Shape;686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87" name="Google Shape;687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88" name="Google Shape;688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89" name="Google Shape;689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90" name="Google Shape;690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91" name="Google Shape;691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92" name="Google Shape;692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93" name="Google Shape;69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lvl="2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lvl="3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lvl="4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lvl="5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lvl="6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lvl="7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lvl="8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95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96" name="Google Shape;696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7" name="Google Shape;697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98" name="Google Shape;698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99" name="Google Shape;699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700" name="Google Shape;700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2" name="Google Shape;702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4" name="Google Shape;704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5" name="Google Shape;70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6" name="Google Shape;70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7" name="Google Shape;707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8" name="Google Shape;708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9" name="Google Shape;709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0" name="Google Shape;710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1" name="Google Shape;711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2" name="Google Shape;712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717" name="Google Shape;717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718" name="Google Shape;718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719" name="Google Shape;719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720" name="Google Shape;720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721" name="Google Shape;721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22" name="Google Shape;722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723" name="Google Shape;72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724" name="Google Shape;72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725" name="Google Shape;72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26" name="Google Shape;72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27" name="Google Shape;72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28" name="Google Shape;72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29" name="Google Shape;72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30" name="Google Shape;73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31" name="Google Shape;73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32" name="Google Shape;732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33" name="Google Shape;733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4" name="Google Shape;734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35" name="Google Shape;735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6" name="Google Shape;736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39" name="Google Shape;739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0" name="Google Shape;740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1" name="Google Shape;741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2" name="Google Shape;742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3" name="Google Shape;743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744" name="Google Shape;74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50" name="Google Shape;750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51" name="Google Shape;751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52" name="Google Shape;752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3" name="Google Shape;75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54" name="Google Shape;754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55" name="Google Shape;755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6" name="Google Shape;75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7" name="Google Shape;757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8" name="Google Shape;758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59" name="Google Shape;759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60" name="Google Shape;760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1" name="Google Shape;761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2" name="Google Shape;762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3" name="Google Shape;763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64" name="Google Shape;764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6" name="Google Shape;766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7" name="Google Shape;767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69" name="Google Shape;769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0" name="Google Shape;770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1" name="Google Shape;771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2" name="Google Shape;772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3" name="Google Shape;773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4" name="Google Shape;774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75" name="Google Shape;775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76" name="Google Shape;776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7" name="Google Shape;777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0" name="Google Shape;780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781" name="Google Shape;78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lvl="2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lvl="3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lvl="4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lvl="5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lvl="6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lvl="7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lvl="8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84" name="Google Shape;784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85" name="Google Shape;785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89" name="Google Shape;789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0" name="Google Shape;790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91" name="Google Shape;791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92" name="Google Shape;792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3" name="Google Shape;793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94" name="Google Shape;794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95" name="Google Shape;795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6" name="Google Shape;796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7" name="Google Shape;797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8" name="Google Shape;798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99" name="Google Shape;799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800" name="Google Shape;800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1" name="Google Shape;801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2" name="Google Shape;802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03" name="Google Shape;803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804" name="Google Shape;804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5" name="Google Shape;805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6" name="Google Shape;806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7" name="Google Shape;807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8" name="Google Shape;808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09" name="Google Shape;809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0" name="Google Shape;810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1" name="Google Shape;811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2" name="Google Shape;812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3" name="Google Shape;813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14" name="Google Shape;814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15" name="Google Shape;815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16" name="Google Shape;816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17" name="Google Shape;817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8" name="Google Shape;818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9" name="Google Shape;819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0" name="Google Shape;820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1" name="Google Shape;821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22" name="Google Shape;822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823" name="Google Shape;823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lvl="2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lvl="3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lvl="4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lvl="5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lvl="6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lvl="7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lvl="8">
              <a:buNone/>
              <a:defRPr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26" name="Google Shape;826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827" name="Google Shape;827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828" name="Google Shape;828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29" name="Google Shape;829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0" name="Google Shape;830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1" name="Google Shape;831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2" name="Google Shape;832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3" name="Google Shape;833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34" name="Google Shape;834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5" name="Google Shape;835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6" name="Google Shape;836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7" name="Google Shape;837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8" name="Google Shape;838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9" name="Google Shape;839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40" name="Google Shape;84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1" name="Google Shape;841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2" name="Google Shape;84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3" name="Google Shape;843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44" name="Google Shape;844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45" name="Google Shape;845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6" name="Google Shape;846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7" name="Google Shape;847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8" name="Google Shape;848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49" name="Google Shape;849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50" name="Google Shape;850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1" name="Google Shape;851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2" name="Google Shape;852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3" name="Google Shape;853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4" name="Google Shape;854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5" name="Google Shape;855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6" name="Google Shape;856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7" name="Google Shape;857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8" name="Google Shape;858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9" name="Google Shape;859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0" name="Google Shape;860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861" name="Google Shape;861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4" name="Google Shape;86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5" name="Google Shape;86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8" name="Google Shape;868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1" name="Google Shape;871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2" name="Google Shape;872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5" name="Google Shape;875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6" name="Google Shape;876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7" name="Google Shape;877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3" name="Google Shape;883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4" name="Google Shape;88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87" name="Google Shape;887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0" name="Google Shape;890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1" name="Google Shape;891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2" name="Google Shape;892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895" name="Google Shape;895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0" name="Google Shape;90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1" name="Google Shape;90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2" name="Google Shape;90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3" name="Google Shape;90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4" name="Google Shape;90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5" name="Google Shape;90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6" name="Google Shape;906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9" name="Google Shape;909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4" name="Google Shape;914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5" name="Google Shape;915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6" name="Google Shape;916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7" name="Google Shape;917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8" name="Google Shape;918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1" name="Google Shape;921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2" name="Google Shape;922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3" name="Google Shape;923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4" name="Google Shape;924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5" name="Google Shape;925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6" name="Google Shape;926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7" name="Google Shape;927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0" name="Google Shape;930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1" name="Google Shape;931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2" name="Google Shape;932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33" name="Google Shape;933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4" name="Google Shape;934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5" name="Google Shape;935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6" name="Google Shape;936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7" name="Google Shape;937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8" name="Google Shape;93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1" name="Google Shape;941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942" name="Google Shape;942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45" name="Google Shape;945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6" name="Google Shape;946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7" name="Google Shape;947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48" name="Google Shape;94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9" name="Google Shape;949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0" name="Google Shape;950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1" name="Google Shape;951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54" name="Google Shape;954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55" name="Google Shape;955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56" name="Google Shape;956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57" name="Google Shape;957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58" name="Google Shape;958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59" name="Google Shape;95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0" name="Google Shape;960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1" name="Google Shape;961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2" name="Google Shape;962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3" name="Google Shape;963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966" name="Google Shape;966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9" name="Google Shape;969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0" name="Google Shape;970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1" name="Google Shape;971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2" name="Google Shape;972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3" name="Google Shape;973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4" name="Google Shape;974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6" name="Google Shape;976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7" name="Google Shape;977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78" name="Google Shape;978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3"/>
          <p:cNvSpPr txBox="1"/>
          <p:nvPr>
            <p:ph idx="2" type="subTitle"/>
          </p:nvPr>
        </p:nvSpPr>
        <p:spPr>
          <a:xfrm>
            <a:off x="290875" y="3810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Ankit Seal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Nov/2025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63"/>
          <p:cNvSpPr txBox="1"/>
          <p:nvPr>
            <p:ph type="title"/>
          </p:nvPr>
        </p:nvSpPr>
        <p:spPr>
          <a:xfrm>
            <a:off x="227000" y="30434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Salary Prediction Using Machine Learning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85" name="Google Shape;985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4"/>
          <p:cNvSpPr/>
          <p:nvPr/>
        </p:nvSpPr>
        <p:spPr>
          <a:xfrm rot="9649294">
            <a:off x="-1341325" y="856718"/>
            <a:ext cx="4949603" cy="1779974"/>
          </a:xfrm>
          <a:prstGeom prst="chord">
            <a:avLst>
              <a:gd fmla="val 2548532" name="adj1"/>
              <a:gd fmla="val 19993265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1" name="Google Shape;991;p64"/>
          <p:cNvSpPr/>
          <p:nvPr/>
        </p:nvSpPr>
        <p:spPr>
          <a:xfrm rot="748054">
            <a:off x="393745" y="1246154"/>
            <a:ext cx="3226691" cy="1216883"/>
          </a:xfrm>
          <a:prstGeom prst="flowChartConnecto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2" name="Google Shape;992;p64"/>
          <p:cNvSpPr/>
          <p:nvPr/>
        </p:nvSpPr>
        <p:spPr>
          <a:xfrm flipH="1">
            <a:off x="1158450" y="1403425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3" name="Google Shape;993;p64"/>
          <p:cNvSpPr/>
          <p:nvPr/>
        </p:nvSpPr>
        <p:spPr>
          <a:xfrm flipH="1">
            <a:off x="1158450" y="1549150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Ankit pfp" id="994" name="Google Shape;994;p64" title="ankit_Seal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7300" y="921988"/>
            <a:ext cx="1649400" cy="1649400"/>
          </a:xfrm>
          <a:prstGeom prst="ellipse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95" name="Google Shape;995;p6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996" name="Google Shape;996;p64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@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 India University,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West Bengal</a:t>
            </a:r>
            <a:endParaRPr/>
          </a:p>
        </p:txBody>
      </p:sp>
      <p:sp>
        <p:nvSpPr>
          <p:cNvPr id="997" name="Google Shape;997;p64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Ankit Seal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Project Developer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98" name="Google Shape;998;p64"/>
          <p:cNvSpPr txBox="1"/>
          <p:nvPr>
            <p:ph type="title"/>
          </p:nvPr>
        </p:nvSpPr>
        <p:spPr>
          <a:xfrm>
            <a:off x="38100" y="26790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About me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99" name="Google Shape;999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5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005" name="Google Shape;1005;p65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06" name="Google Shape;1006;p65"/>
          <p:cNvSpPr txBox="1"/>
          <p:nvPr>
            <p:ph idx="5" type="subTitle"/>
          </p:nvPr>
        </p:nvSpPr>
        <p:spPr>
          <a:xfrm>
            <a:off x="4482800" y="371394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</a:t>
            </a:r>
            <a:r>
              <a:rPr b="0" lang="en"/>
              <a:t>.</a:t>
            </a:r>
            <a:endParaRPr b="0"/>
          </a:p>
        </p:txBody>
      </p:sp>
      <p:sp>
        <p:nvSpPr>
          <p:cNvPr id="1007" name="Google Shape;1007;p65"/>
          <p:cNvSpPr txBox="1"/>
          <p:nvPr>
            <p:ph idx="6" type="subTitle"/>
          </p:nvPr>
        </p:nvSpPr>
        <p:spPr>
          <a:xfrm>
            <a:off x="4482800" y="341302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Used &amp; Code Summary</a:t>
            </a:r>
            <a:endParaRPr/>
          </a:p>
        </p:txBody>
      </p:sp>
      <p:sp>
        <p:nvSpPr>
          <p:cNvPr id="1008" name="Google Shape;1008;p65"/>
          <p:cNvSpPr txBox="1"/>
          <p:nvPr>
            <p:ph idx="7" type="subTitle"/>
          </p:nvPr>
        </p:nvSpPr>
        <p:spPr>
          <a:xfrm>
            <a:off x="4482800" y="318016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1009" name="Google Shape;1009;p65"/>
          <p:cNvSpPr txBox="1"/>
          <p:nvPr>
            <p:ph idx="8" type="subTitle"/>
          </p:nvPr>
        </p:nvSpPr>
        <p:spPr>
          <a:xfrm>
            <a:off x="4482800" y="288002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&amp; Libraries Used</a:t>
            </a:r>
            <a:endParaRPr/>
          </a:p>
        </p:txBody>
      </p:sp>
      <p:sp>
        <p:nvSpPr>
          <p:cNvPr id="1010" name="Google Shape;1010;p65"/>
          <p:cNvSpPr txBox="1"/>
          <p:nvPr>
            <p:ph idx="9" type="subTitle"/>
          </p:nvPr>
        </p:nvSpPr>
        <p:spPr>
          <a:xfrm>
            <a:off x="4482800" y="264716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1011" name="Google Shape;1011;p65"/>
          <p:cNvSpPr txBox="1"/>
          <p:nvPr>
            <p:ph idx="13" type="subTitle"/>
          </p:nvPr>
        </p:nvSpPr>
        <p:spPr>
          <a:xfrm>
            <a:off x="4482800" y="234739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Solution Approach</a:t>
            </a:r>
            <a:endParaRPr/>
          </a:p>
        </p:txBody>
      </p:sp>
      <p:sp>
        <p:nvSpPr>
          <p:cNvPr id="1012" name="Google Shape;1012;p65"/>
          <p:cNvSpPr txBox="1"/>
          <p:nvPr>
            <p:ph idx="14" type="subTitle"/>
          </p:nvPr>
        </p:nvSpPr>
        <p:spPr>
          <a:xfrm>
            <a:off x="4482800" y="211453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</a:t>
            </a:r>
            <a:r>
              <a:rPr b="0" lang="en"/>
              <a:t>.</a:t>
            </a:r>
            <a:endParaRPr b="0"/>
          </a:p>
        </p:txBody>
      </p:sp>
      <p:sp>
        <p:nvSpPr>
          <p:cNvPr id="1013" name="Google Shape;1013;p6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014" name="Google Shape;1014;p6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1015" name="Google Shape;1015;p65"/>
          <p:cNvSpPr txBox="1"/>
          <p:nvPr>
            <p:ph idx="1" type="subTitle"/>
          </p:nvPr>
        </p:nvSpPr>
        <p:spPr>
          <a:xfrm>
            <a:off x="4482800" y="448213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016" name="Google Shape;1016;p65"/>
          <p:cNvSpPr txBox="1"/>
          <p:nvPr>
            <p:ph idx="2" type="subTitle"/>
          </p:nvPr>
        </p:nvSpPr>
        <p:spPr>
          <a:xfrm>
            <a:off x="4482800" y="424927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7</a:t>
            </a:r>
            <a:r>
              <a:rPr b="0" lang="en"/>
              <a:t>.</a:t>
            </a:r>
            <a:endParaRPr b="0"/>
          </a:p>
        </p:txBody>
      </p:sp>
      <p:sp>
        <p:nvSpPr>
          <p:cNvPr id="1017" name="Google Shape;1017;p65"/>
          <p:cNvSpPr txBox="1"/>
          <p:nvPr>
            <p:ph idx="4" type="subTitle"/>
          </p:nvPr>
        </p:nvSpPr>
        <p:spPr>
          <a:xfrm>
            <a:off x="4482800" y="394681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Results, Challenges &amp; Future Improvements</a:t>
            </a:r>
            <a:endParaRPr/>
          </a:p>
        </p:txBody>
      </p:sp>
      <p:sp>
        <p:nvSpPr>
          <p:cNvPr id="1018" name="Google Shape;1018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9" name="Google Shape;1019;p65"/>
          <p:cNvSpPr txBox="1"/>
          <p:nvPr>
            <p:ph idx="13" type="subTitle"/>
          </p:nvPr>
        </p:nvSpPr>
        <p:spPr>
          <a:xfrm>
            <a:off x="4482800" y="1814772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20" name="Google Shape;1020;p65"/>
          <p:cNvSpPr txBox="1"/>
          <p:nvPr>
            <p:ph idx="14" type="subTitle"/>
          </p:nvPr>
        </p:nvSpPr>
        <p:spPr>
          <a:xfrm>
            <a:off x="4482800" y="158191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2.</a:t>
            </a:r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5" name="Google Shape;1025;p66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66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7" name="Google Shape;1027;p66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8" name="Google Shape;1028;p66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9" name="Google Shape;1029;p66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0" name="Google Shape;1030;p66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1" name="Google Shape;1031;p66"/>
          <p:cNvSpPr txBox="1"/>
          <p:nvPr>
            <p:ph idx="5" type="title"/>
          </p:nvPr>
        </p:nvSpPr>
        <p:spPr>
          <a:xfrm>
            <a:off x="167800" y="1710725"/>
            <a:ext cx="1268400" cy="8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1032" name="Google Shape;1032;p66"/>
          <p:cNvSpPr txBox="1"/>
          <p:nvPr>
            <p:ph idx="3" type="title"/>
          </p:nvPr>
        </p:nvSpPr>
        <p:spPr>
          <a:xfrm>
            <a:off x="2096025" y="2031200"/>
            <a:ext cx="1015800" cy="36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Imputation</a:t>
            </a:r>
            <a:endParaRPr sz="1100"/>
          </a:p>
        </p:txBody>
      </p:sp>
      <p:sp>
        <p:nvSpPr>
          <p:cNvPr id="1033" name="Google Shape;1033;p66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Encoding &amp; Scaling</a:t>
            </a:r>
            <a:endParaRPr/>
          </a:p>
        </p:txBody>
      </p:sp>
      <p:sp>
        <p:nvSpPr>
          <p:cNvPr id="1034" name="Google Shape;1034;p66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 Building</a:t>
            </a:r>
            <a:endParaRPr/>
          </a:p>
        </p:txBody>
      </p:sp>
      <p:sp>
        <p:nvSpPr>
          <p:cNvPr id="1035" name="Google Shape;1035;p66"/>
          <p:cNvSpPr txBox="1"/>
          <p:nvPr>
            <p:ph idx="7" type="title"/>
          </p:nvPr>
        </p:nvSpPr>
        <p:spPr>
          <a:xfrm>
            <a:off x="7684376" y="1797200"/>
            <a:ext cx="918300" cy="36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Model Evaluation</a:t>
            </a:r>
            <a:endParaRPr/>
          </a:p>
        </p:txBody>
      </p:sp>
      <p:sp>
        <p:nvSpPr>
          <p:cNvPr id="1036" name="Google Shape;1036;p66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the dataset is clean by handling missing values and separating numerical and categorical columns</a:t>
            </a:r>
            <a:endParaRPr/>
          </a:p>
        </p:txBody>
      </p:sp>
      <p:sp>
        <p:nvSpPr>
          <p:cNvPr id="1037" name="Google Shape;1037;p6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38" name="Google Shape;1038;p66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039" name="Google Shape;1039;p66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Transforming categorical features into numeric form and standardizing numerical features for uniformity.</a:t>
            </a:r>
            <a:endParaRPr/>
          </a:p>
        </p:txBody>
      </p:sp>
      <p:sp>
        <p:nvSpPr>
          <p:cNvPr id="1040" name="Google Shape;1040;p66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multiple regression models inside a unified pipeline setup.</a:t>
            </a:r>
            <a:endParaRPr/>
          </a:p>
        </p:txBody>
      </p:sp>
      <p:sp>
        <p:nvSpPr>
          <p:cNvPr id="1041" name="Google Shape;1041;p66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Filling missing values using simple, consistent strategies for both numeric and categorical features.</a:t>
            </a:r>
            <a:endParaRPr/>
          </a:p>
        </p:txBody>
      </p:sp>
      <p:sp>
        <p:nvSpPr>
          <p:cNvPr id="1042" name="Google Shape;1042;p66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Assessing model performance using metrics like MSE and R² to determine accuracy.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3" name="Google Shape;1043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7"/>
          <p:cNvSpPr txBox="1"/>
          <p:nvPr>
            <p:ph type="title"/>
          </p:nvPr>
        </p:nvSpPr>
        <p:spPr>
          <a:xfrm>
            <a:off x="115025" y="165722"/>
            <a:ext cx="6507000" cy="11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Salary Prediction Using Machine Learning</a:t>
            </a:r>
            <a:endParaRPr/>
          </a:p>
        </p:txBody>
      </p:sp>
      <p:sp>
        <p:nvSpPr>
          <p:cNvPr id="1049" name="Google Shape;1049;p67"/>
          <p:cNvSpPr txBox="1"/>
          <p:nvPr>
            <p:ph idx="1" type="subTitle"/>
          </p:nvPr>
        </p:nvSpPr>
        <p:spPr>
          <a:xfrm>
            <a:off x="115025" y="1607436"/>
            <a:ext cx="53871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This project presents a brief exploration of how machine learning methods can assist in estimating employee salaries.</a:t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The work is based on a modest dataset that includes attributes such as experience, age, gender, and salary, allowing the model to learn meaningful patterns.</a:t>
            </a:r>
            <a:br>
              <a:rPr lang="en" sz="1200">
                <a:latin typeface="Sora Light"/>
                <a:ea typeface="Sora Light"/>
                <a:cs typeface="Sora Light"/>
                <a:sym typeface="Sora Light"/>
              </a:rPr>
            </a:b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The aim is to build a predictive system that reflects practical use of both regression techniques and ensemble-based approaches.</a:t>
            </a:r>
            <a:br>
              <a:rPr lang="en" sz="1200">
                <a:latin typeface="Sora Light"/>
                <a:ea typeface="Sora Light"/>
                <a:cs typeface="Sora Light"/>
                <a:sym typeface="Sora Light"/>
              </a:rPr>
            </a:br>
            <a:endParaRPr sz="1200">
              <a:latin typeface="Sora Light"/>
              <a:ea typeface="Sora Light"/>
              <a:cs typeface="Sora Light"/>
              <a:sym typeface="Sora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 Light"/>
              <a:buChar char="●"/>
            </a:pPr>
            <a:r>
              <a:rPr lang="en" sz="1200">
                <a:latin typeface="Sora Light"/>
                <a:ea typeface="Sora Light"/>
                <a:cs typeface="Sora Light"/>
                <a:sym typeface="Sora Light"/>
              </a:rPr>
              <a:t>The implementation is carried out in Python, supported by the Scikit-learn ecosystem for preprocessing, model development, and evaluation.</a:t>
            </a:r>
            <a:endParaRPr sz="12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50" name="Google Shape;1050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51" name="Google Shape;1051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1052" name="Google Shape;1052;p67"/>
          <p:cNvSpPr txBox="1"/>
          <p:nvPr/>
        </p:nvSpPr>
        <p:spPr>
          <a:xfrm>
            <a:off x="115025" y="1401720"/>
            <a:ext cx="400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Introduction</a:t>
            </a:r>
            <a:endParaRPr b="1"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8"/>
          <p:cNvSpPr txBox="1"/>
          <p:nvPr>
            <p:ph idx="2" type="body"/>
          </p:nvPr>
        </p:nvSpPr>
        <p:spPr>
          <a:xfrm>
            <a:off x="4631450" y="446575"/>
            <a:ext cx="3905400" cy="14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Statement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Organizations often require reliable estimates of employee compensation for planning, hiring, and analysis.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Given limited attributes such as years of experience, age, and gender, the task is to develop a model that can predict salary with reasonable accuracy.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58" name="Google Shape;1058;p68"/>
          <p:cNvSpPr txBox="1"/>
          <p:nvPr>
            <p:ph idx="1" type="body"/>
          </p:nvPr>
        </p:nvSpPr>
        <p:spPr>
          <a:xfrm>
            <a:off x="4631450" y="2170025"/>
            <a:ext cx="3905400" cy="24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Proposed Approach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Preprocess both numerical and categorical features appropriately.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Train multiple regression models to understand their behavior.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Combine them through an ensemble technique to achieve better overall performance.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Evaluate using standard metrics (RMSE and R²).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59" name="Google Shape;1059;p68"/>
          <p:cNvSpPr txBox="1"/>
          <p:nvPr>
            <p:ph idx="3" type="title"/>
          </p:nvPr>
        </p:nvSpPr>
        <p:spPr>
          <a:xfrm>
            <a:off x="115025" y="502775"/>
            <a:ext cx="39054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Challenge and Solution Path</a:t>
            </a:r>
            <a:endParaRPr/>
          </a:p>
        </p:txBody>
      </p:sp>
      <p:sp>
        <p:nvSpPr>
          <p:cNvPr id="1060" name="Google Shape;1060;p68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61" name="Google Shape;1061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9"/>
          <p:cNvSpPr txBox="1"/>
          <p:nvPr>
            <p:ph idx="1" type="subTitle"/>
          </p:nvPr>
        </p:nvSpPr>
        <p:spPr>
          <a:xfrm>
            <a:off x="267425" y="3599071"/>
            <a:ext cx="45039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Libraries Utilized</a:t>
            </a:r>
            <a:endParaRPr b="1" sz="11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i="1" lang="en"/>
              <a:t>pandas, numpy</a:t>
            </a:r>
            <a:r>
              <a:rPr lang="en"/>
              <a:t> for data handling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i="1" lang="en"/>
              <a:t>scikit-learn</a:t>
            </a:r>
            <a:r>
              <a:rPr lang="en"/>
              <a:t> for preprocessing, modeling, and evaluation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i="1" lang="en"/>
              <a:t>matplotlib </a:t>
            </a:r>
            <a:r>
              <a:rPr lang="en"/>
              <a:t>to make data visualisations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800"/>
          </a:p>
        </p:txBody>
      </p:sp>
      <p:sp>
        <p:nvSpPr>
          <p:cNvPr id="1067" name="Google Shape;1067;p69"/>
          <p:cNvSpPr txBox="1"/>
          <p:nvPr>
            <p:ph type="title"/>
          </p:nvPr>
        </p:nvSpPr>
        <p:spPr>
          <a:xfrm>
            <a:off x="152400" y="228600"/>
            <a:ext cx="7546500" cy="11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Workflow &amp; Libraries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</a:t>
            </a:r>
            <a:endParaRPr/>
          </a:p>
        </p:txBody>
      </p:sp>
      <p:sp>
        <p:nvSpPr>
          <p:cNvPr id="1068" name="Google Shape;1068;p69"/>
          <p:cNvSpPr txBox="1"/>
          <p:nvPr>
            <p:ph idx="1" type="subTitle"/>
          </p:nvPr>
        </p:nvSpPr>
        <p:spPr>
          <a:xfrm>
            <a:off x="267425" y="1482796"/>
            <a:ext cx="4839900" cy="18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Overall Workflow</a:t>
            </a:r>
            <a:endParaRPr b="1" sz="11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Load and inspect the dataset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Clean data and select relevant features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Divide data into training and testing subsets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Apply preprocessing (imputation, encoding, scaling)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Train individual models and an ensemble model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Compare performance using cross-validation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Test the final model with new sample inputs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Save the trained model for future use</a:t>
            </a:r>
            <a:endParaRPr b="1" sz="1300"/>
          </a:p>
        </p:txBody>
      </p:sp>
      <p:sp>
        <p:nvSpPr>
          <p:cNvPr id="1069" name="Google Shape;1069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70" name="Google Shape;1070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0"/>
          <p:cNvSpPr txBox="1"/>
          <p:nvPr>
            <p:ph idx="2" type="body"/>
          </p:nvPr>
        </p:nvSpPr>
        <p:spPr>
          <a:xfrm>
            <a:off x="4631450" y="827575"/>
            <a:ext cx="3667500" cy="41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Algorithms Applied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Linear Regression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Used as an initial baseline model, helping us observe simple linear relationships within the salary data.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Random Forest Regressor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An ensemble of multiple decision trees that reduces overfitting and provides more stable predictions.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Gradient Boosting Regressor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Builds models sequentially, where each new model learns from errors made previously, allowing gradual refinement.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Voting Regressor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Combines the predictions of all individual models, aiming to balance their strengths and reduce individual biases.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76" name="Google Shape;1076;p70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Used &amp; Code Overview</a:t>
            </a:r>
            <a:endParaRPr/>
          </a:p>
        </p:txBody>
      </p:sp>
      <p:sp>
        <p:nvSpPr>
          <p:cNvPr id="1077" name="Google Shape;1077;p70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78" name="Google Shape;1078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1"/>
          <p:cNvSpPr txBox="1"/>
          <p:nvPr>
            <p:ph idx="2" type="body"/>
          </p:nvPr>
        </p:nvSpPr>
        <p:spPr>
          <a:xfrm>
            <a:off x="4175464" y="827575"/>
            <a:ext cx="4499700" cy="41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Brief Code Summary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Preprocessing with ColumnTransformer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Numeric features are imputed and scaled, while categorical features undergo imputation and one-hot encoding to make them model-ready.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Use of Pipelines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Each model is paired with a preprocessing pipeline for consistent and automated handling of raw data.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Cross-Validation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Helps estimate model performance more reliably by evaluating across multiple data splits.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Feature Insights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Feature importance from the Random Forest model provides a preliminary understanding of which inputs contribute most to predictions.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Model Saving and Testing</a:t>
            </a:r>
            <a:endParaRPr b="1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The best-performing model is stored using Joblib and demonstrated on sample input to verify correctness.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84" name="Google Shape;1084;p71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Used &amp; Code Overview</a:t>
            </a:r>
            <a:endParaRPr/>
          </a:p>
        </p:txBody>
      </p:sp>
      <p:sp>
        <p:nvSpPr>
          <p:cNvPr id="1085" name="Google Shape;1085;p71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Nov/2025</a:t>
            </a:r>
            <a:endParaRPr/>
          </a:p>
        </p:txBody>
      </p:sp>
      <p:sp>
        <p:nvSpPr>
          <p:cNvPr id="1086" name="Google Shape;1086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2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Limitations </a:t>
            </a:r>
            <a:endParaRPr/>
          </a:p>
        </p:txBody>
      </p:sp>
      <p:sp>
        <p:nvSpPr>
          <p:cNvPr id="1092" name="Google Shape;1092;p72"/>
          <p:cNvSpPr txBox="1"/>
          <p:nvPr/>
        </p:nvSpPr>
        <p:spPr>
          <a:xfrm>
            <a:off x="267925" y="1216300"/>
            <a:ext cx="52872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Results Obtained</a:t>
            </a:r>
            <a:endParaRPr b="1" sz="1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 ensemble model produced more consistent and balanced predictions compared to individual models.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Evaluation metrics such as RMSE and R² suggested that the model is able to learn meaningful salary patterns from the available features.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Overall, the combined approach offered a dependable baseline for salary prediction.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3" name="Google Shape;1093;p72"/>
          <p:cNvSpPr txBox="1"/>
          <p:nvPr/>
        </p:nvSpPr>
        <p:spPr>
          <a:xfrm>
            <a:off x="267925" y="3045100"/>
            <a:ext cx="52872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Current Limitations</a:t>
            </a:r>
            <a:endParaRPr b="1" sz="11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 dataset is relatively small and lacks additional influential attributes such as education level, job role, or geographic region.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Salary prediction is influenced by numerous external factors that are not fully captured in the dataset.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Some models may still face generalization issues due to limited data diversity.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94" name="Google Shape;109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600" y="942129"/>
            <a:ext cx="2930687" cy="181776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95" name="Google Shape;109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7600" y="2875375"/>
            <a:ext cx="2930710" cy="1817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96" name="Google Shape;1096;p72"/>
          <p:cNvSpPr txBox="1"/>
          <p:nvPr>
            <p:ph type="title"/>
          </p:nvPr>
        </p:nvSpPr>
        <p:spPr>
          <a:xfrm>
            <a:off x="137160" y="4774929"/>
            <a:ext cx="1939200" cy="18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Nov/2025</a:t>
            </a:r>
            <a:endParaRPr/>
          </a:p>
        </p:txBody>
      </p:sp>
      <p:sp>
        <p:nvSpPr>
          <p:cNvPr id="1097" name="Google Shape;1097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3"/>
          <p:cNvSpPr/>
          <p:nvPr/>
        </p:nvSpPr>
        <p:spPr>
          <a:xfrm rot="10800000">
            <a:off x="1235525" y="15962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3" name="Google Shape;1103;p73"/>
          <p:cNvSpPr/>
          <p:nvPr/>
        </p:nvSpPr>
        <p:spPr>
          <a:xfrm>
            <a:off x="1265075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4" name="Google Shape;1104;p73"/>
          <p:cNvSpPr/>
          <p:nvPr/>
        </p:nvSpPr>
        <p:spPr>
          <a:xfrm rot="10800000">
            <a:off x="1235525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5" name="Google Shape;1105;p73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6" name="Google Shape;1106;p73"/>
          <p:cNvSpPr/>
          <p:nvPr/>
        </p:nvSpPr>
        <p:spPr>
          <a:xfrm rot="10800000">
            <a:off x="4672250" y="159625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7" name="Google Shape;1107;p73"/>
          <p:cNvSpPr/>
          <p:nvPr/>
        </p:nvSpPr>
        <p:spPr>
          <a:xfrm>
            <a:off x="4699363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8" name="Google Shape;1108;p73"/>
          <p:cNvSpPr/>
          <p:nvPr/>
        </p:nvSpPr>
        <p:spPr>
          <a:xfrm rot="10800000">
            <a:off x="4665150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09" name="Google Shape;1109;p73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110" name="Google Shape;1110;p73"/>
          <p:cNvCxnSpPr/>
          <p:nvPr/>
        </p:nvCxnSpPr>
        <p:spPr>
          <a:xfrm>
            <a:off x="2788825" y="53945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1" name="Google Shape;1111;p73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12" name="Google Shape;1112;p7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13" name="Google Shape;1113;p73"/>
          <p:cNvSpPr txBox="1"/>
          <p:nvPr>
            <p:ph idx="8" type="subTitle"/>
          </p:nvPr>
        </p:nvSpPr>
        <p:spPr>
          <a:xfrm>
            <a:off x="1867950" y="3062125"/>
            <a:ext cx="2394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highlight>
                  <a:schemeClr val="lt1"/>
                </a:highlight>
              </a:rPr>
              <a:t>Deployment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14" name="Google Shape;1114;p73"/>
          <p:cNvSpPr txBox="1"/>
          <p:nvPr>
            <p:ph idx="6" type="subTitle"/>
          </p:nvPr>
        </p:nvSpPr>
        <p:spPr>
          <a:xfrm>
            <a:off x="128725" y="382975"/>
            <a:ext cx="2660100" cy="11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Scope &amp; Improvements</a:t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1115" name="Google Shape;1115;p73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16" name="Google Shape;1116;p73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17" name="Google Shape;1117;p73"/>
          <p:cNvSpPr txBox="1"/>
          <p:nvPr/>
        </p:nvSpPr>
        <p:spPr>
          <a:xfrm>
            <a:off x="1439369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18" name="Google Shape;1118;p73"/>
          <p:cNvSpPr txBox="1"/>
          <p:nvPr/>
        </p:nvSpPr>
        <p:spPr>
          <a:xfrm>
            <a:off x="4869881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19" name="Google Shape;1119;p73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Add More Features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20" name="Google Shape;1120;p73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Introducing variables like skills, company size, job category, and location can significantly strengthen predictive power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1" name="Google Shape;1121;p73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Better Algorithms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22" name="Google Shape;1122;p73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Dataset Expansion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23" name="Google Shape;1123;p73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Build a simple web interface or dashboard to make predictions accessible and improve presentation value.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4" name="Google Shape;1124;p73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Experiment with tuned hyperparameters and advanced models like XGBoost, CatBoost, or lightweight neural networks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5" name="Google Shape;1125;p73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Collecting more data from open sources or job portals can build a stronger and more representative training set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6" name="Google Shape;1126;p73"/>
          <p:cNvSpPr/>
          <p:nvPr/>
        </p:nvSpPr>
        <p:spPr>
          <a:xfrm rot="10800000">
            <a:off x="1235525" y="159620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7" name="Google Shape;1127;p73"/>
          <p:cNvSpPr txBox="1"/>
          <p:nvPr/>
        </p:nvSpPr>
        <p:spPr>
          <a:xfrm>
            <a:off x="1415388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28" name="Google Shape;1128;p73"/>
          <p:cNvSpPr txBox="1"/>
          <p:nvPr/>
        </p:nvSpPr>
        <p:spPr>
          <a:xfrm>
            <a:off x="2898599" y="474500"/>
            <a:ext cx="39042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Future Enhancements</a:t>
            </a:r>
            <a:endParaRPr sz="1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9" name="Google Shape;1129;p73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Nov/2025</a:t>
            </a:r>
            <a:endParaRPr/>
          </a:p>
        </p:txBody>
      </p:sp>
      <p:sp>
        <p:nvSpPr>
          <p:cNvPr id="1130" name="Google Shape;1130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74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136" name="Google Shape;1136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